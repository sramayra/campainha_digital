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ileron Bold" charset="1" panose="00000800000000000000"/>
      <p:regular r:id="rId16"/>
    </p:embeddedFont>
    <p:embeddedFont>
      <p:font typeface="Aileron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12" Target="../media/image59.png" Type="http://schemas.openxmlformats.org/officeDocument/2006/relationships/image"/><Relationship Id="rId13" Target="../media/image60.png" Type="http://schemas.openxmlformats.org/officeDocument/2006/relationships/image"/><Relationship Id="rId14" Target="../media/image61.png" Type="http://schemas.openxmlformats.org/officeDocument/2006/relationships/image"/><Relationship Id="rId15" Target="../media/image62.png" Type="http://schemas.openxmlformats.org/officeDocument/2006/relationships/image"/><Relationship Id="rId16" Target="../media/image63.png" Type="http://schemas.openxmlformats.org/officeDocument/2006/relationships/image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581512" cy="10287000"/>
          </a:xfrm>
          <a:custGeom>
            <a:avLst/>
            <a:gdLst/>
            <a:ahLst/>
            <a:cxnLst/>
            <a:rect r="r" b="b" t="t" l="l"/>
            <a:pathLst>
              <a:path h="10287000" w="9581512">
                <a:moveTo>
                  <a:pt x="0" y="0"/>
                </a:moveTo>
                <a:lnTo>
                  <a:pt x="9581512" y="0"/>
                </a:lnTo>
                <a:lnTo>
                  <a:pt x="95815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8096" y="848198"/>
            <a:ext cx="8010144" cy="521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5"/>
              </a:lnSpc>
            </a:pPr>
            <a:r>
              <a:rPr lang="en-US" sz="8594" spc="-257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Campainha digital acessível </a:t>
            </a:r>
            <a:r>
              <a:rPr lang="en-US" sz="8594" spc="-257" b="true">
                <a:solidFill>
                  <a:srgbClr val="E17E00"/>
                </a:solidFill>
                <a:latin typeface="Aileron Bold"/>
                <a:ea typeface="Aileron Bold"/>
                <a:cs typeface="Aileron Bold"/>
                <a:sym typeface="Aileron Bold"/>
              </a:rPr>
              <a:t>como facilitador no recebimento de encomendas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6384" y="6359613"/>
            <a:ext cx="7388352" cy="1497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2"/>
              </a:lnSpc>
            </a:pPr>
            <a:r>
              <a:rPr lang="en-US" sz="3401" spc="-102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Sistema integrado a QR Code</a:t>
            </a:r>
          </a:p>
          <a:p>
            <a:pPr algn="l">
              <a:lnSpc>
                <a:spcPts val="3912"/>
              </a:lnSpc>
            </a:pPr>
            <a:r>
              <a:rPr lang="en-US" sz="3401" spc="-102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para facilitar o recebimento de encomendas preservando a privacidade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8352038"/>
            <a:ext cx="2625072" cy="229572"/>
          </a:xfrm>
          <a:custGeom>
            <a:avLst/>
            <a:gdLst/>
            <a:ahLst/>
            <a:cxnLst/>
            <a:rect r="r" b="b" t="t" l="l"/>
            <a:pathLst>
              <a:path h="229572" w="2625072">
                <a:moveTo>
                  <a:pt x="0" y="0"/>
                </a:moveTo>
                <a:lnTo>
                  <a:pt x="2625072" y="0"/>
                </a:lnTo>
                <a:lnTo>
                  <a:pt x="262507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6384" y="8658905"/>
            <a:ext cx="5394960" cy="95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3232" spc="-9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Pequeno condomínio</a:t>
            </a:r>
          </a:p>
          <a:p>
            <a:pPr algn="l">
              <a:lnSpc>
                <a:spcPts val="3717"/>
              </a:lnSpc>
            </a:pPr>
            <a:r>
              <a:rPr lang="en-US" sz="3232" spc="-96">
                <a:solidFill>
                  <a:srgbClr val="E17E00"/>
                </a:solidFill>
                <a:latin typeface="Aileron"/>
                <a:ea typeface="Aileron"/>
                <a:cs typeface="Aileron"/>
                <a:sym typeface="Aileron"/>
              </a:rPr>
              <a:t>Jardim São Luís, São Paulo-SP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622220" y="6854356"/>
            <a:ext cx="4801694" cy="3432644"/>
          </a:xfrm>
          <a:custGeom>
            <a:avLst/>
            <a:gdLst/>
            <a:ahLst/>
            <a:cxnLst/>
            <a:rect r="r" b="b" t="t" l="l"/>
            <a:pathLst>
              <a:path h="3432644" w="4801694">
                <a:moveTo>
                  <a:pt x="0" y="0"/>
                </a:moveTo>
                <a:lnTo>
                  <a:pt x="4801694" y="0"/>
                </a:lnTo>
                <a:lnTo>
                  <a:pt x="4801694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17598" y="426348"/>
            <a:ext cx="2187560" cy="3869923"/>
          </a:xfrm>
          <a:custGeom>
            <a:avLst/>
            <a:gdLst/>
            <a:ahLst/>
            <a:cxnLst/>
            <a:rect r="r" b="b" t="t" l="l"/>
            <a:pathLst>
              <a:path h="3869923" w="2187560">
                <a:moveTo>
                  <a:pt x="0" y="0"/>
                </a:moveTo>
                <a:lnTo>
                  <a:pt x="2187560" y="0"/>
                </a:lnTo>
                <a:lnTo>
                  <a:pt x="2187560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08086" y="4919394"/>
            <a:ext cx="7634584" cy="5159898"/>
          </a:xfrm>
          <a:custGeom>
            <a:avLst/>
            <a:gdLst/>
            <a:ahLst/>
            <a:cxnLst/>
            <a:rect r="r" b="b" t="t" l="l"/>
            <a:pathLst>
              <a:path h="5159898" w="7634584">
                <a:moveTo>
                  <a:pt x="0" y="0"/>
                </a:moveTo>
                <a:lnTo>
                  <a:pt x="7634584" y="0"/>
                </a:lnTo>
                <a:lnTo>
                  <a:pt x="7634584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005840" y="4296271"/>
            <a:ext cx="7200900" cy="1301455"/>
            <a:chOff x="0" y="0"/>
            <a:chExt cx="1896533" cy="3427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6533" cy="342770"/>
            </a:xfrm>
            <a:custGeom>
              <a:avLst/>
              <a:gdLst/>
              <a:ahLst/>
              <a:cxnLst/>
              <a:rect r="r" b="b" t="t" l="l"/>
              <a:pathLst>
                <a:path h="342770" w="1896533">
                  <a:moveTo>
                    <a:pt x="1693333" y="0"/>
                  </a:moveTo>
                  <a:cubicBezTo>
                    <a:pt x="1805558" y="0"/>
                    <a:pt x="1896533" y="76732"/>
                    <a:pt x="1896533" y="171385"/>
                  </a:cubicBezTo>
                  <a:cubicBezTo>
                    <a:pt x="1896533" y="266038"/>
                    <a:pt x="1805558" y="342770"/>
                    <a:pt x="1693333" y="342770"/>
                  </a:cubicBezTo>
                  <a:lnTo>
                    <a:pt x="203200" y="342770"/>
                  </a:lnTo>
                  <a:cubicBezTo>
                    <a:pt x="90976" y="342770"/>
                    <a:pt x="0" y="266038"/>
                    <a:pt x="0" y="171385"/>
                  </a:cubicBezTo>
                  <a:cubicBezTo>
                    <a:pt x="0" y="7673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17E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96533" cy="380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96112" y="1954878"/>
            <a:ext cx="7863840" cy="2006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84"/>
              </a:lnSpc>
            </a:pPr>
            <a:r>
              <a:rPr lang="en-US" sz="8426" spc="-168" b="true">
                <a:solidFill>
                  <a:srgbClr val="F18800"/>
                </a:solidFill>
                <a:latin typeface="Aileron Bold"/>
                <a:ea typeface="Aileron Bold"/>
                <a:cs typeface="Aileron Bold"/>
                <a:sym typeface="Aileron Bold"/>
              </a:rPr>
              <a:t>no recebimento</a:t>
            </a:r>
          </a:p>
          <a:p>
            <a:pPr algn="l">
              <a:lnSpc>
                <a:spcPts val="7584"/>
              </a:lnSpc>
            </a:pPr>
            <a:r>
              <a:rPr lang="en-US" sz="8426" spc="-168" b="true">
                <a:solidFill>
                  <a:srgbClr val="F18800"/>
                </a:solidFill>
                <a:latin typeface="Aileron Bold"/>
                <a:ea typeface="Aileron Bold"/>
                <a:cs typeface="Aileron Bold"/>
                <a:sym typeface="Aileron Bold"/>
              </a:rPr>
              <a:t>de encomendas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4451388"/>
            <a:ext cx="4937760" cy="10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7"/>
              </a:lnSpc>
            </a:pPr>
            <a:r>
              <a:rPr lang="en-US" sz="315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Interfone frequentemente</a:t>
            </a:r>
          </a:p>
          <a:p>
            <a:pPr algn="l">
              <a:lnSpc>
                <a:spcPts val="4097"/>
              </a:lnSpc>
            </a:pPr>
            <a:r>
              <a:rPr lang="en-US" sz="315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não funciona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6112" y="784226"/>
            <a:ext cx="5815584" cy="113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15"/>
              </a:lnSpc>
            </a:pPr>
            <a:r>
              <a:rPr lang="en-US" sz="8515" spc="-17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 problema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763524" y="5712026"/>
            <a:ext cx="8778240" cy="1321614"/>
            <a:chOff x="0" y="0"/>
            <a:chExt cx="2311964" cy="3480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1965" cy="348079"/>
            </a:xfrm>
            <a:custGeom>
              <a:avLst/>
              <a:gdLst/>
              <a:ahLst/>
              <a:cxnLst/>
              <a:rect r="r" b="b" t="t" l="l"/>
              <a:pathLst>
                <a:path h="348079" w="2311965">
                  <a:moveTo>
                    <a:pt x="2108765" y="0"/>
                  </a:moveTo>
                  <a:cubicBezTo>
                    <a:pt x="2220989" y="0"/>
                    <a:pt x="2311965" y="77920"/>
                    <a:pt x="2311965" y="174040"/>
                  </a:cubicBezTo>
                  <a:cubicBezTo>
                    <a:pt x="2311965" y="270159"/>
                    <a:pt x="2220989" y="348079"/>
                    <a:pt x="2108765" y="348079"/>
                  </a:cubicBezTo>
                  <a:lnTo>
                    <a:pt x="203200" y="348079"/>
                  </a:lnTo>
                  <a:cubicBezTo>
                    <a:pt x="90976" y="348079"/>
                    <a:pt x="0" y="270159"/>
                    <a:pt x="0" y="174040"/>
                  </a:cubicBezTo>
                  <a:cubicBezTo>
                    <a:pt x="0" y="7792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17E1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11964" cy="386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" y="5788698"/>
            <a:ext cx="6419088" cy="10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7"/>
              </a:lnSpc>
            </a:pPr>
            <a:r>
              <a:rPr lang="en-US" sz="315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Moradores muitas vezes</a:t>
            </a:r>
          </a:p>
          <a:p>
            <a:pPr algn="l">
              <a:lnSpc>
                <a:spcPts val="4097"/>
              </a:lnSpc>
            </a:pPr>
            <a:r>
              <a:rPr lang="en-US" sz="315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ausentes no momento da entrega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763524" y="7147939"/>
            <a:ext cx="7680960" cy="1170251"/>
            <a:chOff x="0" y="0"/>
            <a:chExt cx="2022969" cy="3082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22969" cy="308214"/>
            </a:xfrm>
            <a:custGeom>
              <a:avLst/>
              <a:gdLst/>
              <a:ahLst/>
              <a:cxnLst/>
              <a:rect r="r" b="b" t="t" l="l"/>
              <a:pathLst>
                <a:path h="308214" w="2022969">
                  <a:moveTo>
                    <a:pt x="1819769" y="0"/>
                  </a:moveTo>
                  <a:cubicBezTo>
                    <a:pt x="1931993" y="0"/>
                    <a:pt x="2022969" y="68996"/>
                    <a:pt x="2022969" y="154107"/>
                  </a:cubicBezTo>
                  <a:cubicBezTo>
                    <a:pt x="2022969" y="239218"/>
                    <a:pt x="1931993" y="308214"/>
                    <a:pt x="1819769" y="308214"/>
                  </a:cubicBezTo>
                  <a:lnTo>
                    <a:pt x="203200" y="308214"/>
                  </a:lnTo>
                  <a:cubicBezTo>
                    <a:pt x="90976" y="308214"/>
                    <a:pt x="0" y="239218"/>
                    <a:pt x="0" y="154107"/>
                  </a:cubicBezTo>
                  <a:cubicBezTo>
                    <a:pt x="0" y="6899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17E1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22969" cy="34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2016252" y="8432490"/>
            <a:ext cx="9349740" cy="1209502"/>
            <a:chOff x="0" y="0"/>
            <a:chExt cx="2462483" cy="3185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62483" cy="318552"/>
            </a:xfrm>
            <a:custGeom>
              <a:avLst/>
              <a:gdLst/>
              <a:ahLst/>
              <a:cxnLst/>
              <a:rect r="r" b="b" t="t" l="l"/>
              <a:pathLst>
                <a:path h="318552" w="2462483">
                  <a:moveTo>
                    <a:pt x="2259283" y="0"/>
                  </a:moveTo>
                  <a:cubicBezTo>
                    <a:pt x="2371507" y="0"/>
                    <a:pt x="2462483" y="71310"/>
                    <a:pt x="2462483" y="159276"/>
                  </a:cubicBezTo>
                  <a:cubicBezTo>
                    <a:pt x="2462483" y="247242"/>
                    <a:pt x="2371507" y="318552"/>
                    <a:pt x="2259283" y="318552"/>
                  </a:cubicBezTo>
                  <a:lnTo>
                    <a:pt x="203200" y="318552"/>
                  </a:lnTo>
                  <a:cubicBezTo>
                    <a:pt x="90976" y="318552"/>
                    <a:pt x="0" y="247242"/>
                    <a:pt x="0" y="159276"/>
                  </a:cubicBezTo>
                  <a:cubicBezTo>
                    <a:pt x="0" y="7131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17E1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462483" cy="356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96112" y="7214614"/>
            <a:ext cx="5449824" cy="104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319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Existe o receio da perda ou troca de encomendas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8508690"/>
            <a:ext cx="5522976" cy="101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7"/>
              </a:lnSpc>
            </a:pPr>
            <a:r>
              <a:rPr lang="en-US" sz="315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Preocupação com exposição</a:t>
            </a:r>
          </a:p>
          <a:p>
            <a:pPr algn="l">
              <a:lnSpc>
                <a:spcPts val="4097"/>
              </a:lnSpc>
            </a:pPr>
            <a:r>
              <a:rPr lang="en-US" sz="315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de dados pessoais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2688" y="831578"/>
            <a:ext cx="15380208" cy="120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0"/>
              </a:lnSpc>
            </a:pPr>
            <a:r>
              <a:rPr lang="en-US" sz="9030" spc="-27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 que os </a:t>
            </a:r>
            <a:r>
              <a:rPr lang="en-US" sz="9030" spc="-270" b="true">
                <a:solidFill>
                  <a:srgbClr val="E17600"/>
                </a:solidFill>
                <a:latin typeface="Aileron Bold"/>
                <a:ea typeface="Aileron Bold"/>
                <a:cs typeface="Aileron Bold"/>
                <a:sym typeface="Aileron Bold"/>
              </a:rPr>
              <a:t>moradores disseram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2688" y="2639825"/>
            <a:ext cx="4133088" cy="179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2"/>
              </a:lnSpc>
            </a:pPr>
            <a:r>
              <a:rPr lang="en-US" sz="3401" spc="-102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Principais problemas citados na pesquisa de opinião.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97296" y="2964695"/>
            <a:ext cx="4352544" cy="421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497" spc="-74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Falta de interfone funcionando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26842" y="2569017"/>
            <a:ext cx="5020450" cy="1082267"/>
          </a:xfrm>
          <a:custGeom>
            <a:avLst/>
            <a:gdLst/>
            <a:ahLst/>
            <a:cxnLst/>
            <a:rect r="r" b="b" t="t" l="l"/>
            <a:pathLst>
              <a:path h="1082267" w="5020450">
                <a:moveTo>
                  <a:pt x="0" y="0"/>
                </a:moveTo>
                <a:lnTo>
                  <a:pt x="5020450" y="0"/>
                </a:lnTo>
                <a:lnTo>
                  <a:pt x="5020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97296" y="4104991"/>
            <a:ext cx="3877056" cy="95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spc="-8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Ausência de morador no momento da entrega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26842" y="4066699"/>
            <a:ext cx="5020450" cy="1082267"/>
          </a:xfrm>
          <a:custGeom>
            <a:avLst/>
            <a:gdLst/>
            <a:ahLst/>
            <a:cxnLst/>
            <a:rect r="r" b="b" t="t" l="l"/>
            <a:pathLst>
              <a:path h="1082267" w="5020450">
                <a:moveTo>
                  <a:pt x="0" y="0"/>
                </a:moveTo>
                <a:lnTo>
                  <a:pt x="5020450" y="0"/>
                </a:lnTo>
                <a:lnTo>
                  <a:pt x="5020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797296" y="5785675"/>
            <a:ext cx="4151376" cy="4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spc="-8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Perda ou troca de pacotes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26842" y="5564382"/>
            <a:ext cx="3489158" cy="1082267"/>
          </a:xfrm>
          <a:custGeom>
            <a:avLst/>
            <a:gdLst/>
            <a:ahLst/>
            <a:cxnLst/>
            <a:rect r="r" b="b" t="t" l="l"/>
            <a:pathLst>
              <a:path h="1082267" w="3489158">
                <a:moveTo>
                  <a:pt x="0" y="0"/>
                </a:moveTo>
                <a:lnTo>
                  <a:pt x="3489158" y="0"/>
                </a:lnTo>
                <a:lnTo>
                  <a:pt x="348915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797296" y="6985351"/>
            <a:ext cx="3547872" cy="95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spc="-8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Receio com exposição de dados pessoais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226842" y="6854356"/>
            <a:ext cx="3489158" cy="1082267"/>
          </a:xfrm>
          <a:custGeom>
            <a:avLst/>
            <a:gdLst/>
            <a:ahLst/>
            <a:cxnLst/>
            <a:rect r="r" b="b" t="t" l="l"/>
            <a:pathLst>
              <a:path h="1082267" w="3489158">
                <a:moveTo>
                  <a:pt x="0" y="0"/>
                </a:moveTo>
                <a:lnTo>
                  <a:pt x="3489158" y="0"/>
                </a:lnTo>
                <a:lnTo>
                  <a:pt x="348915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797296" y="8487253"/>
            <a:ext cx="3913632" cy="95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spc="-8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Entregador não aguarda tempo suficiente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26842" y="8352038"/>
            <a:ext cx="1968804" cy="1082267"/>
          </a:xfrm>
          <a:custGeom>
            <a:avLst/>
            <a:gdLst/>
            <a:ahLst/>
            <a:cxnLst/>
            <a:rect r="r" b="b" t="t" l="l"/>
            <a:pathLst>
              <a:path h="1082267" w="1968804">
                <a:moveTo>
                  <a:pt x="0" y="0"/>
                </a:moveTo>
                <a:lnTo>
                  <a:pt x="1968804" y="0"/>
                </a:lnTo>
                <a:lnTo>
                  <a:pt x="196880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947136" y="2884741"/>
            <a:ext cx="1499616" cy="4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spc="-8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menções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47136" y="4335208"/>
            <a:ext cx="1499616" cy="4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spc="-8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menções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74368" y="5765101"/>
            <a:ext cx="1499616" cy="4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spc="-8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menções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74368" y="7174420"/>
            <a:ext cx="1499616" cy="4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spc="-8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menções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01600" y="8604313"/>
            <a:ext cx="1389888" cy="46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spc="-8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menção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398496" y="2674329"/>
            <a:ext cx="365760" cy="873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065"/>
              </a:lnSpc>
            </a:pPr>
            <a:r>
              <a:rPr lang="en-US" sz="5047" b="true">
                <a:solidFill>
                  <a:srgbClr val="E17600"/>
                </a:solidFill>
                <a:latin typeface="Aileron Bold"/>
                <a:ea typeface="Aileron Bold"/>
                <a:cs typeface="Aileron Bold"/>
                <a:sym typeface="Aileron Bold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398496" y="4093935"/>
            <a:ext cx="365760" cy="873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065"/>
              </a:lnSpc>
            </a:pPr>
            <a:r>
              <a:rPr lang="en-US" sz="5047" b="true">
                <a:solidFill>
                  <a:srgbClr val="E17600"/>
                </a:solidFill>
                <a:latin typeface="Aileron Bold"/>
                <a:ea typeface="Aileron Bold"/>
                <a:cs typeface="Aileron Bold"/>
                <a:sym typeface="Aileron Bold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44016" y="5523828"/>
            <a:ext cx="365760" cy="873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065"/>
              </a:lnSpc>
            </a:pPr>
            <a:r>
              <a:rPr lang="en-US" sz="5047" b="true">
                <a:solidFill>
                  <a:srgbClr val="E17600"/>
                </a:solidFill>
                <a:latin typeface="Aileron Bold"/>
                <a:ea typeface="Aileron Bold"/>
                <a:cs typeface="Aileron Bold"/>
                <a:sym typeface="Aileron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44016" y="6953721"/>
            <a:ext cx="365760" cy="873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065"/>
              </a:lnSpc>
            </a:pPr>
            <a:r>
              <a:rPr lang="en-US" sz="5047" b="true">
                <a:solidFill>
                  <a:srgbClr val="E17600"/>
                </a:solidFill>
                <a:latin typeface="Aileron Bold"/>
                <a:ea typeface="Aileron Bold"/>
                <a:cs typeface="Aileron Bold"/>
                <a:sym typeface="Aileron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99264" y="8373327"/>
            <a:ext cx="237744" cy="873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065"/>
              </a:lnSpc>
            </a:pPr>
            <a:r>
              <a:rPr lang="en-US" sz="5047" b="true">
                <a:solidFill>
                  <a:srgbClr val="E17600"/>
                </a:solidFill>
                <a:latin typeface="Aileron Bold"/>
                <a:ea typeface="Aileron Bold"/>
                <a:cs typeface="Aileron Bold"/>
                <a:sym typeface="Aileron Bol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7824" y="905279"/>
            <a:ext cx="7424928" cy="308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4"/>
              </a:lnSpc>
            </a:pPr>
            <a:r>
              <a:rPr lang="en-US" sz="8167" spc="-285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Frequência de </a:t>
            </a:r>
            <a:r>
              <a:rPr lang="en-US" sz="8167" spc="-285" b="true">
                <a:solidFill>
                  <a:srgbClr val="F4881B"/>
                </a:solidFill>
                <a:latin typeface="Aileron Bold"/>
                <a:ea typeface="Aileron Bold"/>
                <a:cs typeface="Aileron Bold"/>
                <a:sym typeface="Aileron Bold"/>
              </a:rPr>
              <a:t>recebimento</a:t>
            </a:r>
          </a:p>
          <a:p>
            <a:pPr algn="l">
              <a:lnSpc>
                <a:spcPts val="8004"/>
              </a:lnSpc>
            </a:pPr>
            <a:r>
              <a:rPr lang="en-US" sz="8167" spc="-285" b="true">
                <a:solidFill>
                  <a:srgbClr val="F4881B"/>
                </a:solidFill>
                <a:latin typeface="Aileron Bold"/>
                <a:ea typeface="Aileron Bold"/>
                <a:cs typeface="Aileron Bold"/>
                <a:sym typeface="Aileron Bold"/>
              </a:rPr>
              <a:t>de encomendas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7824" y="4460859"/>
            <a:ext cx="5029200" cy="163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317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 maioria dos moradores recebe encomendas com alta frequência.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6428009"/>
            <a:ext cx="6978316" cy="3432644"/>
          </a:xfrm>
          <a:custGeom>
            <a:avLst/>
            <a:gdLst/>
            <a:ahLst/>
            <a:cxnLst/>
            <a:rect r="r" b="b" t="t" l="l"/>
            <a:pathLst>
              <a:path h="3432644" w="6978316">
                <a:moveTo>
                  <a:pt x="0" y="0"/>
                </a:moveTo>
                <a:lnTo>
                  <a:pt x="6978316" y="0"/>
                </a:lnTo>
                <a:lnTo>
                  <a:pt x="6978316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80160" y="7010274"/>
            <a:ext cx="3730752" cy="131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7"/>
              </a:lnSpc>
            </a:pPr>
            <a:r>
              <a:rPr lang="en-US" sz="5047" spc="-176" b="true">
                <a:solidFill>
                  <a:srgbClr val="F4881B"/>
                </a:solidFill>
                <a:latin typeface="Aileron Bold"/>
                <a:ea typeface="Aileron Bold"/>
                <a:cs typeface="Aileron Bold"/>
                <a:sym typeface="Aileron Bold"/>
              </a:rPr>
              <a:t>O problema</a:t>
            </a:r>
          </a:p>
          <a:p>
            <a:pPr algn="l">
              <a:lnSpc>
                <a:spcPts val="5047"/>
              </a:lnSpc>
            </a:pPr>
            <a:r>
              <a:rPr lang="en-US" sz="5047" spc="-176" b="true">
                <a:solidFill>
                  <a:srgbClr val="F4881B"/>
                </a:solidFill>
                <a:latin typeface="Aileron Bold"/>
                <a:ea typeface="Aileron Bold"/>
                <a:cs typeface="Aileron Bold"/>
                <a:sym typeface="Aileron Bold"/>
              </a:rPr>
              <a:t>é recorrente.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0160" y="8481550"/>
            <a:ext cx="5870448" cy="874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912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Interrupções e imprevistos fazem parte do dia a dia do condominio.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925244" y="852695"/>
            <a:ext cx="3926670" cy="4077631"/>
          </a:xfrm>
          <a:custGeom>
            <a:avLst/>
            <a:gdLst/>
            <a:ahLst/>
            <a:cxnLst/>
            <a:rect r="r" b="b" t="t" l="l"/>
            <a:pathLst>
              <a:path h="4077631" w="3926670">
                <a:moveTo>
                  <a:pt x="0" y="0"/>
                </a:moveTo>
                <a:lnTo>
                  <a:pt x="3926670" y="0"/>
                </a:lnTo>
                <a:lnTo>
                  <a:pt x="392667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79024" y="2119330"/>
            <a:ext cx="1700784" cy="121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sz="2723">
                <a:solidFill>
                  <a:srgbClr val="001127"/>
                </a:solidFill>
                <a:latin typeface="Aileron"/>
                <a:ea typeface="Aileron"/>
                <a:cs typeface="Aileron"/>
                <a:sym typeface="Aileron"/>
              </a:rPr>
              <a:t>raramente ou 1 vez por mês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9024" y="3566331"/>
            <a:ext cx="1444752" cy="45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5"/>
              </a:lnSpc>
            </a:pPr>
            <a:r>
              <a:rPr lang="en-US" sz="3062" b="true">
                <a:solidFill>
                  <a:srgbClr val="001127"/>
                </a:solidFill>
                <a:latin typeface="Aileron Bold"/>
                <a:ea typeface="Aileron Bold"/>
                <a:cs typeface="Aileron Bold"/>
                <a:sym typeface="Aileron Bold"/>
              </a:rPr>
              <a:t>minoria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925244" y="4285339"/>
            <a:ext cx="4582938" cy="4930326"/>
          </a:xfrm>
          <a:custGeom>
            <a:avLst/>
            <a:gdLst/>
            <a:ahLst/>
            <a:cxnLst/>
            <a:rect r="r" b="b" t="t" l="l"/>
            <a:pathLst>
              <a:path h="4930326" w="4582938">
                <a:moveTo>
                  <a:pt x="0" y="0"/>
                </a:moveTo>
                <a:lnTo>
                  <a:pt x="4582938" y="0"/>
                </a:lnTo>
                <a:lnTo>
                  <a:pt x="4582938" y="4930326"/>
                </a:lnTo>
                <a:lnTo>
                  <a:pt x="0" y="4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49840" y="5776186"/>
            <a:ext cx="1975104" cy="90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94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 vez</a:t>
            </a:r>
          </a:p>
          <a:p>
            <a:pPr algn="l">
              <a:lnSpc>
                <a:spcPts val="3539"/>
              </a:lnSpc>
            </a:pPr>
            <a:r>
              <a:rPr lang="en-US" sz="294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por semana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49840" y="6755301"/>
            <a:ext cx="1133856" cy="45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3062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parte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622220" y="852695"/>
            <a:ext cx="4145426" cy="8155262"/>
          </a:xfrm>
          <a:custGeom>
            <a:avLst/>
            <a:gdLst/>
            <a:ahLst/>
            <a:cxnLst/>
            <a:rect r="r" b="b" t="t" l="l"/>
            <a:pathLst>
              <a:path h="8155262" w="4145426">
                <a:moveTo>
                  <a:pt x="0" y="0"/>
                </a:moveTo>
                <a:lnTo>
                  <a:pt x="4145426" y="0"/>
                </a:lnTo>
                <a:lnTo>
                  <a:pt x="4145426" y="8155262"/>
                </a:lnTo>
                <a:lnTo>
                  <a:pt x="0" y="81552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228064" y="3800355"/>
            <a:ext cx="2048256" cy="180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3"/>
              </a:lnSpc>
            </a:pPr>
            <a:r>
              <a:rPr lang="en-US" sz="2978">
                <a:solidFill>
                  <a:srgbClr val="001127"/>
                </a:solidFill>
                <a:latin typeface="Aileron"/>
                <a:ea typeface="Aileron"/>
                <a:cs typeface="Aileron"/>
                <a:sym typeface="Aileron"/>
              </a:rPr>
              <a:t>diariamente ou várias vezes por semana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28064" y="5770752"/>
            <a:ext cx="1664208" cy="56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3679" b="true">
                <a:solidFill>
                  <a:srgbClr val="001127"/>
                </a:solidFill>
                <a:latin typeface="Aileron Bold"/>
                <a:ea typeface="Aileron Bold"/>
                <a:cs typeface="Aileron Bold"/>
                <a:sym typeface="Aileron Bold"/>
              </a:rPr>
              <a:t>maioria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528440" y="3640352"/>
            <a:ext cx="2406316" cy="2579949"/>
          </a:xfrm>
          <a:custGeom>
            <a:avLst/>
            <a:gdLst/>
            <a:ahLst/>
            <a:cxnLst/>
            <a:rect r="r" b="b" t="t" l="l"/>
            <a:pathLst>
              <a:path h="2579949" w="2406316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581434"/>
            <a:ext cx="7406640" cy="105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7"/>
              </a:lnSpc>
            </a:pPr>
            <a:r>
              <a:rPr lang="en-US" sz="3062" spc="-153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Os moradores dão </a:t>
            </a:r>
            <a:r>
              <a:rPr lang="en-US" sz="3062" spc="-153" b="true">
                <a:solidFill>
                  <a:srgbClr val="F99C00"/>
                </a:solidFill>
                <a:latin typeface="Aileron Bold"/>
                <a:ea typeface="Aileron Bold"/>
                <a:cs typeface="Aileron Bold"/>
                <a:sym typeface="Aileron Bold"/>
              </a:rPr>
              <a:t>alta importância</a:t>
            </a:r>
          </a:p>
          <a:p>
            <a:pPr algn="l">
              <a:lnSpc>
                <a:spcPts val="4287"/>
              </a:lnSpc>
            </a:pPr>
            <a:r>
              <a:rPr lang="en-US" sz="3062" spc="-153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à proteção dos seus dados de contato.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4086" y="4919394"/>
            <a:ext cx="10467474" cy="3017228"/>
          </a:xfrm>
          <a:custGeom>
            <a:avLst/>
            <a:gdLst/>
            <a:ahLst/>
            <a:cxnLst/>
            <a:rect r="r" b="b" t="t" l="l"/>
            <a:pathLst>
              <a:path h="3017228" w="10467474">
                <a:moveTo>
                  <a:pt x="0" y="0"/>
                </a:moveTo>
                <a:lnTo>
                  <a:pt x="10467474" y="0"/>
                </a:lnTo>
                <a:lnTo>
                  <a:pt x="10467474" y="3017229"/>
                </a:lnTo>
                <a:lnTo>
                  <a:pt x="0" y="3017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16736" y="5453359"/>
            <a:ext cx="3694176" cy="40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8"/>
              </a:lnSpc>
            </a:pPr>
            <a:r>
              <a:rPr lang="en-US" b="true" sz="2384" spc="-11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MÉDIA DE IMPORTÂNCIA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6736" y="5404814"/>
            <a:ext cx="1133856" cy="223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73"/>
              </a:lnSpc>
            </a:pPr>
            <a:r>
              <a:rPr lang="en-US" sz="12980" spc="-649" b="true">
                <a:solidFill>
                  <a:srgbClr val="F99C00"/>
                </a:solidFill>
                <a:latin typeface="Aileron Bold"/>
                <a:ea typeface="Aileron Bold"/>
                <a:cs typeface="Aileron Bold"/>
                <a:sym typeface="Aileron Bold"/>
              </a:rPr>
              <a:t>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15184" y="6746045"/>
            <a:ext cx="1005840" cy="62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3679" spc="-183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de 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134488" y="6209369"/>
            <a:ext cx="1531292" cy="655919"/>
          </a:xfrm>
          <a:custGeom>
            <a:avLst/>
            <a:gdLst/>
            <a:ahLst/>
            <a:cxnLst/>
            <a:rect r="r" b="b" t="t" l="l"/>
            <a:pathLst>
              <a:path h="655919" w="1531292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36086" y="6209369"/>
            <a:ext cx="1531292" cy="655919"/>
          </a:xfrm>
          <a:custGeom>
            <a:avLst/>
            <a:gdLst/>
            <a:ahLst/>
            <a:cxnLst/>
            <a:rect r="r" b="b" t="t" l="l"/>
            <a:pathLst>
              <a:path h="655919" w="1531292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48622" y="6209369"/>
            <a:ext cx="1750048" cy="655919"/>
          </a:xfrm>
          <a:custGeom>
            <a:avLst/>
            <a:gdLst/>
            <a:ahLst/>
            <a:cxnLst/>
            <a:rect r="r" b="b" t="t" l="l"/>
            <a:pathLst>
              <a:path h="655919" w="1750048">
                <a:moveTo>
                  <a:pt x="0" y="0"/>
                </a:moveTo>
                <a:lnTo>
                  <a:pt x="1750048" y="0"/>
                </a:lnTo>
                <a:lnTo>
                  <a:pt x="175004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68976" y="6209369"/>
            <a:ext cx="1531292" cy="655919"/>
          </a:xfrm>
          <a:custGeom>
            <a:avLst/>
            <a:gdLst/>
            <a:ahLst/>
            <a:cxnLst/>
            <a:rect r="r" b="b" t="t" l="l"/>
            <a:pathLst>
              <a:path h="655919" w="1531292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570574" y="6209369"/>
            <a:ext cx="1323474" cy="655919"/>
          </a:xfrm>
          <a:custGeom>
            <a:avLst/>
            <a:gdLst/>
            <a:ahLst/>
            <a:cxnLst/>
            <a:rect r="r" b="b" t="t" l="l"/>
            <a:pathLst>
              <a:path h="655919" w="1323474">
                <a:moveTo>
                  <a:pt x="0" y="0"/>
                </a:moveTo>
                <a:lnTo>
                  <a:pt x="1323474" y="0"/>
                </a:lnTo>
                <a:lnTo>
                  <a:pt x="132347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59568" y="6934687"/>
            <a:ext cx="201168" cy="40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8"/>
              </a:lnSpc>
            </a:pPr>
            <a:r>
              <a:rPr lang="en-US" b="true" sz="2384" spc="-11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5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706488" y="5564382"/>
            <a:ext cx="656268" cy="874559"/>
          </a:xfrm>
          <a:custGeom>
            <a:avLst/>
            <a:gdLst/>
            <a:ahLst/>
            <a:cxnLst/>
            <a:rect r="r" b="b" t="t" l="l"/>
            <a:pathLst>
              <a:path h="874559" w="656268">
                <a:moveTo>
                  <a:pt x="0" y="0"/>
                </a:moveTo>
                <a:lnTo>
                  <a:pt x="656268" y="0"/>
                </a:lnTo>
                <a:lnTo>
                  <a:pt x="656268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14400" y="8241445"/>
            <a:ext cx="9436608" cy="1050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7"/>
              </a:lnSpc>
            </a:pPr>
            <a:r>
              <a:rPr lang="en-US" sz="3062" spc="-153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 sistema garante que o entregador</a:t>
            </a:r>
          </a:p>
          <a:p>
            <a:pPr algn="l">
              <a:lnSpc>
                <a:spcPts val="4287"/>
              </a:lnSpc>
            </a:pPr>
            <a:r>
              <a:rPr lang="en-US" sz="3062" spc="-153" b="true">
                <a:solidFill>
                  <a:srgbClr val="F99C00"/>
                </a:solidFill>
                <a:latin typeface="Aileron Bold"/>
                <a:ea typeface="Aileron Bold"/>
                <a:cs typeface="Aileron Bold"/>
                <a:sym typeface="Aileron Bold"/>
              </a:rPr>
              <a:t>nunca tem acesso</a:t>
            </a:r>
            <a:r>
              <a:rPr lang="en-US" sz="3062" spc="-153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ao telefone ou e-mail do morador.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101866" y="1279043"/>
            <a:ext cx="7186134" cy="9007957"/>
          </a:xfrm>
          <a:custGeom>
            <a:avLst/>
            <a:gdLst/>
            <a:ahLst/>
            <a:cxnLst/>
            <a:rect r="r" b="b" t="t" l="l"/>
            <a:pathLst>
              <a:path h="9007957" w="7186134">
                <a:moveTo>
                  <a:pt x="0" y="0"/>
                </a:moveTo>
                <a:lnTo>
                  <a:pt x="7186134" y="0"/>
                </a:lnTo>
                <a:lnTo>
                  <a:pt x="7186134" y="9007957"/>
                </a:lnTo>
                <a:lnTo>
                  <a:pt x="0" y="90079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77824" y="363484"/>
            <a:ext cx="6620256" cy="1726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5"/>
              </a:lnSpc>
            </a:pPr>
            <a:r>
              <a:rPr lang="en-US" sz="10125" spc="-506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Privacidade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7824" y="1587637"/>
            <a:ext cx="4443984" cy="1726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5"/>
              </a:lnSpc>
            </a:pPr>
            <a:r>
              <a:rPr lang="en-US" sz="10125" spc="-506" b="true">
                <a:solidFill>
                  <a:srgbClr val="F99C00"/>
                </a:solidFill>
                <a:latin typeface="Aileron Bold"/>
                <a:ea typeface="Aileron Bold"/>
                <a:cs typeface="Aileron Bold"/>
                <a:sym typeface="Aileron Bold"/>
              </a:rPr>
              <a:t>importa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09744" y="6934687"/>
            <a:ext cx="164592" cy="40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8"/>
              </a:lnSpc>
            </a:pPr>
            <a:r>
              <a:rPr lang="en-US" b="true" sz="2384" spc="-11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63056" y="6934687"/>
            <a:ext cx="201168" cy="40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8"/>
              </a:lnSpc>
            </a:pPr>
            <a:r>
              <a:rPr lang="en-US" b="true" sz="2384" spc="-11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16368" y="6934687"/>
            <a:ext cx="201168" cy="40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8"/>
              </a:lnSpc>
            </a:pPr>
            <a:r>
              <a:rPr lang="en-US" b="true" sz="2384" spc="-11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69680" y="6934687"/>
            <a:ext cx="201168" cy="40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8"/>
              </a:lnSpc>
            </a:pPr>
            <a:r>
              <a:rPr lang="en-US" b="true" sz="2384" spc="-11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5840" y="1946384"/>
            <a:ext cx="4315968" cy="208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1"/>
              </a:lnSpc>
            </a:pPr>
            <a:r>
              <a:rPr lang="en-US" sz="8238" spc="-329" b="true">
                <a:solidFill>
                  <a:srgbClr val="F17E12"/>
                </a:solidFill>
                <a:latin typeface="Aileron Bold"/>
                <a:ea typeface="Aileron Bold"/>
                <a:cs typeface="Aileron Bold"/>
                <a:sym typeface="Aileron Bold"/>
              </a:rPr>
              <a:t>sistema proposto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5840" y="4479308"/>
            <a:ext cx="5029200" cy="127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3679" spc="-73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Maioria dos moradores está disposta a usar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5840" y="5880621"/>
            <a:ext cx="3621024" cy="257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83"/>
              </a:lnSpc>
            </a:pPr>
            <a:r>
              <a:rPr lang="en-US" sz="15059" spc="-602" b="true">
                <a:solidFill>
                  <a:srgbClr val="F17E12"/>
                </a:solidFill>
                <a:latin typeface="Aileron Bold"/>
                <a:ea typeface="Aileron Bold"/>
                <a:cs typeface="Aileron Bold"/>
                <a:sym typeface="Aileron Bold"/>
              </a:rPr>
              <a:t>82%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5840" y="8211069"/>
            <a:ext cx="5120640" cy="61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9"/>
              </a:lnSpc>
            </a:pPr>
            <a:r>
              <a:rPr lang="en-US" sz="3585" spc="-7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de moradores favoráveis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706488" y="852695"/>
            <a:ext cx="8279914" cy="8581610"/>
          </a:xfrm>
          <a:custGeom>
            <a:avLst/>
            <a:gdLst/>
            <a:ahLst/>
            <a:cxnLst/>
            <a:rect r="r" b="b" t="t" l="l"/>
            <a:pathLst>
              <a:path h="8581610" w="8279914">
                <a:moveTo>
                  <a:pt x="0" y="0"/>
                </a:moveTo>
                <a:lnTo>
                  <a:pt x="8279914" y="0"/>
                </a:lnTo>
                <a:lnTo>
                  <a:pt x="8279914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52176" y="2269647"/>
            <a:ext cx="1353312" cy="90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5"/>
              </a:lnSpc>
            </a:pPr>
            <a:r>
              <a:rPr lang="en-US" sz="5253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18%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71632" y="3092182"/>
            <a:ext cx="987552" cy="69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0"/>
              </a:lnSpc>
            </a:pPr>
            <a:r>
              <a:rPr lang="en-US" sz="402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Não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0032" y="4933980"/>
            <a:ext cx="1353312" cy="90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5"/>
              </a:lnSpc>
            </a:pPr>
            <a:r>
              <a:rPr lang="en-US" sz="5253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18%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36608" y="5850408"/>
            <a:ext cx="1426464" cy="618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2"/>
              </a:lnSpc>
            </a:pPr>
            <a:r>
              <a:rPr lang="en-US" sz="360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Talvez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41680" y="4686044"/>
            <a:ext cx="2359152" cy="156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8"/>
              </a:lnSpc>
            </a:pPr>
            <a:r>
              <a:rPr lang="en-US" sz="9213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64%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59968" y="6214272"/>
            <a:ext cx="2322576" cy="118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1"/>
              </a:lnSpc>
            </a:pPr>
            <a:r>
              <a:rPr lang="en-US" sz="4221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Sim, com certeza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5840" y="493789"/>
            <a:ext cx="4937760" cy="1464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06"/>
              </a:lnSpc>
            </a:pPr>
            <a:r>
              <a:rPr lang="en-US" sz="8504" spc="-34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Adesão ao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1248" y="717431"/>
            <a:ext cx="8138160" cy="124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1"/>
              </a:lnSpc>
            </a:pPr>
            <a:r>
              <a:rPr lang="en-US" sz="9351" spc="-28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Como funciona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1248" y="1856798"/>
            <a:ext cx="5120640" cy="119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924" spc="-267" b="true">
                <a:solidFill>
                  <a:srgbClr val="F49300"/>
                </a:solidFill>
                <a:latin typeface="Aileron Bold"/>
                <a:ea typeface="Aileron Bold"/>
                <a:cs typeface="Aileron Bold"/>
                <a:sym typeface="Aileron Bold"/>
              </a:rPr>
              <a:t>o sistema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01952" y="3706971"/>
            <a:ext cx="877824" cy="765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9"/>
              </a:lnSpc>
            </a:pPr>
            <a:r>
              <a:rPr lang="en-US" b="true" sz="5799" spc="-173">
                <a:solidFill>
                  <a:srgbClr val="F49300"/>
                </a:solidFill>
                <a:latin typeface="Aileron Bold"/>
                <a:ea typeface="Aileron Bold"/>
                <a:cs typeface="Aileron Bold"/>
                <a:sym typeface="Aileron Bold"/>
              </a:rPr>
              <a:t>01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4493047"/>
            <a:ext cx="3500096" cy="3443576"/>
          </a:xfrm>
          <a:custGeom>
            <a:avLst/>
            <a:gdLst/>
            <a:ahLst/>
            <a:cxnLst/>
            <a:rect r="r" b="b" t="t" l="l"/>
            <a:pathLst>
              <a:path h="3443576" w="3500096">
                <a:moveTo>
                  <a:pt x="0" y="0"/>
                </a:moveTo>
                <a:lnTo>
                  <a:pt x="3500096" y="0"/>
                </a:lnTo>
                <a:lnTo>
                  <a:pt x="350009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32688" y="8142604"/>
            <a:ext cx="3438144" cy="85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723" spc="-8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Entregador escaneia</a:t>
            </a:r>
          </a:p>
          <a:p>
            <a:pPr algn="l">
              <a:lnSpc>
                <a:spcPts val="3404"/>
              </a:lnSpc>
            </a:pPr>
            <a:r>
              <a:rPr lang="en-US" sz="2723" spc="-8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 QR Code na portaria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134488" y="5990729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99632" y="3663501"/>
            <a:ext cx="987552" cy="86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9"/>
              </a:lnSpc>
            </a:pPr>
            <a:r>
              <a:rPr lang="en-US" b="true" sz="6529" spc="-195">
                <a:solidFill>
                  <a:srgbClr val="F49300"/>
                </a:solidFill>
                <a:latin typeface="Aileron Bold"/>
                <a:ea typeface="Aileron Bold"/>
                <a:cs typeface="Aileron Bold"/>
                <a:sym typeface="Aileron Bold"/>
              </a:rPr>
              <a:t>02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998574" y="4493047"/>
            <a:ext cx="3500096" cy="3443576"/>
          </a:xfrm>
          <a:custGeom>
            <a:avLst/>
            <a:gdLst/>
            <a:ahLst/>
            <a:cxnLst/>
            <a:rect r="r" b="b" t="t" l="l"/>
            <a:pathLst>
              <a:path h="3443576" w="3500096">
                <a:moveTo>
                  <a:pt x="0" y="0"/>
                </a:moveTo>
                <a:lnTo>
                  <a:pt x="3500096" y="0"/>
                </a:lnTo>
                <a:lnTo>
                  <a:pt x="350009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468112" y="8142604"/>
            <a:ext cx="2468880" cy="85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723" spc="-8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Digita o número</a:t>
            </a:r>
          </a:p>
          <a:p>
            <a:pPr algn="l">
              <a:lnSpc>
                <a:spcPts val="3404"/>
              </a:lnSpc>
            </a:pPr>
            <a:r>
              <a:rPr lang="en-US" sz="2723" spc="-8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do imóvel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487732" y="5990729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607040" y="3651075"/>
            <a:ext cx="1005840" cy="886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7"/>
              </a:lnSpc>
            </a:pPr>
            <a:r>
              <a:rPr lang="en-US" b="true" sz="6647" spc="-199">
                <a:solidFill>
                  <a:srgbClr val="F49300"/>
                </a:solidFill>
                <a:latin typeface="Aileron Bold"/>
                <a:ea typeface="Aileron Bold"/>
                <a:cs typeface="Aileron Bold"/>
                <a:sym typeface="Aileron Bold"/>
              </a:rPr>
              <a:t>03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351818" y="4493047"/>
            <a:ext cx="3500096" cy="3443576"/>
          </a:xfrm>
          <a:custGeom>
            <a:avLst/>
            <a:gdLst/>
            <a:ahLst/>
            <a:cxnLst/>
            <a:rect r="r" b="b" t="t" l="l"/>
            <a:pathLst>
              <a:path h="3443576" w="3500096">
                <a:moveTo>
                  <a:pt x="0" y="0"/>
                </a:moveTo>
                <a:lnTo>
                  <a:pt x="3500096" y="0"/>
                </a:lnTo>
                <a:lnTo>
                  <a:pt x="350009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345168" y="8160887"/>
            <a:ext cx="3493008" cy="128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sz="2723" spc="-8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Sistema dispara</a:t>
            </a:r>
          </a:p>
          <a:p>
            <a:pPr algn="ctr">
              <a:lnSpc>
                <a:spcPts val="3404"/>
              </a:lnSpc>
            </a:pPr>
            <a:r>
              <a:rPr lang="en-US" sz="2723" spc="-8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notificação via WhatsApp ao síndico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840976" y="5990729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886432" y="3651075"/>
            <a:ext cx="1005840" cy="886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7"/>
              </a:lnSpc>
            </a:pPr>
            <a:r>
              <a:rPr lang="en-US" b="true" sz="6647" spc="-199">
                <a:solidFill>
                  <a:srgbClr val="F49300"/>
                </a:solidFill>
                <a:latin typeface="Aileron Bold"/>
                <a:ea typeface="Aileron Bold"/>
                <a:cs typeface="Aileron Bold"/>
                <a:sym typeface="Aileron Bold"/>
              </a:rPr>
              <a:t>04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716000" y="4493047"/>
            <a:ext cx="3489158" cy="3443576"/>
          </a:xfrm>
          <a:custGeom>
            <a:avLst/>
            <a:gdLst/>
            <a:ahLst/>
            <a:cxnLst/>
            <a:rect r="r" b="b" t="t" l="l"/>
            <a:pathLst>
              <a:path h="3443576" w="3489158">
                <a:moveTo>
                  <a:pt x="0" y="0"/>
                </a:moveTo>
                <a:lnTo>
                  <a:pt x="3489158" y="0"/>
                </a:lnTo>
                <a:lnTo>
                  <a:pt x="3489158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935456" y="8160887"/>
            <a:ext cx="2889504" cy="128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sz="2723" spc="-8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Morador é avisado</a:t>
            </a:r>
          </a:p>
          <a:p>
            <a:pPr algn="ctr">
              <a:lnSpc>
                <a:spcPts val="3404"/>
              </a:lnSpc>
            </a:pPr>
            <a:r>
              <a:rPr lang="en-US" sz="2723" spc="-8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sem exposição de</a:t>
            </a:r>
          </a:p>
          <a:p>
            <a:pPr algn="ctr">
              <a:lnSpc>
                <a:spcPts val="3404"/>
              </a:lnSpc>
            </a:pPr>
            <a:r>
              <a:rPr lang="en-US" sz="2723" spc="-8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dados pessoais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08086" y="0"/>
            <a:ext cx="8279914" cy="10287000"/>
          </a:xfrm>
          <a:custGeom>
            <a:avLst/>
            <a:gdLst/>
            <a:ahLst/>
            <a:cxnLst/>
            <a:rect r="r" b="b" t="t" l="l"/>
            <a:pathLst>
              <a:path h="10287000" w="8279914">
                <a:moveTo>
                  <a:pt x="0" y="0"/>
                </a:moveTo>
                <a:lnTo>
                  <a:pt x="8279914" y="0"/>
                </a:lnTo>
                <a:lnTo>
                  <a:pt x="8279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41248" y="436281"/>
            <a:ext cx="4681728" cy="1341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13"/>
              </a:lnSpc>
            </a:pPr>
            <a:r>
              <a:rPr lang="en-US" sz="7866" spc="-314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Benefícios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1248" y="1382685"/>
            <a:ext cx="8503920" cy="1341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13"/>
              </a:lnSpc>
            </a:pPr>
            <a:r>
              <a:rPr lang="en-US" sz="7866" spc="-314" b="true">
                <a:solidFill>
                  <a:srgbClr val="F18A00"/>
                </a:solidFill>
                <a:latin typeface="Aileron Bold"/>
                <a:ea typeface="Aileron Bold"/>
                <a:cs typeface="Aileron Bold"/>
                <a:sym typeface="Aileron Bold"/>
              </a:rPr>
              <a:t>para o condomínio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2776725"/>
            <a:ext cx="1323474" cy="1519546"/>
          </a:xfrm>
          <a:custGeom>
            <a:avLst/>
            <a:gdLst/>
            <a:ahLst/>
            <a:cxnLst/>
            <a:rect r="r" b="b" t="t" l="l"/>
            <a:pathLst>
              <a:path h="1519546" w="1323474">
                <a:moveTo>
                  <a:pt x="0" y="0"/>
                </a:moveTo>
                <a:lnTo>
                  <a:pt x="1323474" y="0"/>
                </a:lnTo>
                <a:lnTo>
                  <a:pt x="132347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2842" y="2995365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05456" y="3105386"/>
            <a:ext cx="5084064" cy="96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2978" spc="-11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Mais organização no recebimento de encomendas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4086" y="4285339"/>
            <a:ext cx="1323474" cy="1289974"/>
          </a:xfrm>
          <a:custGeom>
            <a:avLst/>
            <a:gdLst/>
            <a:ahLst/>
            <a:cxnLst/>
            <a:rect r="r" b="b" t="t" l="l"/>
            <a:pathLst>
              <a:path h="1289974" w="1323474">
                <a:moveTo>
                  <a:pt x="0" y="0"/>
                </a:moveTo>
                <a:lnTo>
                  <a:pt x="1323474" y="0"/>
                </a:lnTo>
                <a:lnTo>
                  <a:pt x="132347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2842" y="4493047"/>
            <a:ext cx="885962" cy="874559"/>
          </a:xfrm>
          <a:custGeom>
            <a:avLst/>
            <a:gdLst/>
            <a:ahLst/>
            <a:cxnLst/>
            <a:rect r="r" b="b" t="t" l="l"/>
            <a:pathLst>
              <a:path h="874559" w="885962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05456" y="4483844"/>
            <a:ext cx="3749040" cy="96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2978" spc="-11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Redução de pacotes perdidos ou trocados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64086" y="5564382"/>
            <a:ext cx="1323474" cy="1508614"/>
          </a:xfrm>
          <a:custGeom>
            <a:avLst/>
            <a:gdLst/>
            <a:ahLst/>
            <a:cxnLst/>
            <a:rect r="r" b="b" t="t" l="l"/>
            <a:pathLst>
              <a:path h="1508614" w="1323474">
                <a:moveTo>
                  <a:pt x="0" y="0"/>
                </a:moveTo>
                <a:lnTo>
                  <a:pt x="1323474" y="0"/>
                </a:lnTo>
                <a:lnTo>
                  <a:pt x="1323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2842" y="5783021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505456" y="5852015"/>
            <a:ext cx="5340096" cy="96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2978" spc="-11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Mais privacidade e segurança para os moradores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41248" y="7065313"/>
            <a:ext cx="1323474" cy="1508614"/>
          </a:xfrm>
          <a:custGeom>
            <a:avLst/>
            <a:gdLst/>
            <a:ahLst/>
            <a:cxnLst/>
            <a:rect r="r" b="b" t="t" l="l"/>
            <a:pathLst>
              <a:path h="1508614" w="1323474">
                <a:moveTo>
                  <a:pt x="0" y="0"/>
                </a:moveTo>
                <a:lnTo>
                  <a:pt x="1323474" y="0"/>
                </a:lnTo>
                <a:lnTo>
                  <a:pt x="1323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60004" y="7283953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82618" y="7311919"/>
            <a:ext cx="4151376" cy="96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2978" spc="-11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Solução de baixo custo e fácil implementação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9536" y="443372"/>
            <a:ext cx="5394960" cy="177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6"/>
              </a:lnSpc>
            </a:pPr>
            <a:r>
              <a:rPr lang="en-US" sz="10297" spc="-514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Próximos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9536" y="1804411"/>
            <a:ext cx="4114800" cy="1632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35"/>
              </a:lnSpc>
            </a:pPr>
            <a:r>
              <a:rPr lang="en-US" sz="9525" spc="-476" b="true">
                <a:solidFill>
                  <a:srgbClr val="F99417"/>
                </a:solidFill>
                <a:latin typeface="Aileron Bold"/>
                <a:ea typeface="Aileron Bold"/>
                <a:cs typeface="Aileron Bold"/>
                <a:sym typeface="Aileron Bold"/>
              </a:rPr>
              <a:t>passos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4066699"/>
            <a:ext cx="2625072" cy="2153601"/>
          </a:xfrm>
          <a:custGeom>
            <a:avLst/>
            <a:gdLst/>
            <a:ahLst/>
            <a:cxnLst/>
            <a:rect r="r" b="b" t="t" l="l"/>
            <a:pathLst>
              <a:path h="2153601" w="2625072">
                <a:moveTo>
                  <a:pt x="0" y="0"/>
                </a:moveTo>
                <a:lnTo>
                  <a:pt x="2625072" y="0"/>
                </a:lnTo>
                <a:lnTo>
                  <a:pt x="2625072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19072" y="4478727"/>
            <a:ext cx="1097280" cy="123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36"/>
              </a:lnSpc>
            </a:pPr>
            <a:r>
              <a:rPr lang="en-US" b="true" sz="7240" spc="-217">
                <a:solidFill>
                  <a:srgbClr val="F99417"/>
                </a:solidFill>
                <a:latin typeface="Aileron Bold"/>
                <a:ea typeface="Aileron Bold"/>
                <a:cs typeface="Aileron Bold"/>
                <a:sym typeface="Aileron Bold"/>
              </a:rPr>
              <a:t>01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957866" y="5990729"/>
            <a:ext cx="437512" cy="1082267"/>
          </a:xfrm>
          <a:custGeom>
            <a:avLst/>
            <a:gdLst/>
            <a:ahLst/>
            <a:cxnLst/>
            <a:rect r="r" b="b" t="t" l="l"/>
            <a:pathLst>
              <a:path h="1082267" w="437512">
                <a:moveTo>
                  <a:pt x="0" y="0"/>
                </a:moveTo>
                <a:lnTo>
                  <a:pt x="437512" y="0"/>
                </a:lnTo>
                <a:lnTo>
                  <a:pt x="43751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32688" y="7237758"/>
            <a:ext cx="2615184" cy="949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4"/>
              </a:lnSpc>
            </a:pPr>
            <a:r>
              <a:rPr lang="en-US" sz="2753" spc="-82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Desenvolvimento do sistema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259464" y="4919394"/>
            <a:ext cx="1312536" cy="448211"/>
          </a:xfrm>
          <a:custGeom>
            <a:avLst/>
            <a:gdLst/>
            <a:ahLst/>
            <a:cxnLst/>
            <a:rect r="r" b="b" t="t" l="l"/>
            <a:pathLst>
              <a:path h="448211" w="1312536">
                <a:moveTo>
                  <a:pt x="0" y="0"/>
                </a:moveTo>
                <a:lnTo>
                  <a:pt x="1312536" y="0"/>
                </a:lnTo>
                <a:lnTo>
                  <a:pt x="131253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353244" y="4066699"/>
            <a:ext cx="2406316" cy="2153601"/>
          </a:xfrm>
          <a:custGeom>
            <a:avLst/>
            <a:gdLst/>
            <a:ahLst/>
            <a:cxnLst/>
            <a:rect r="r" b="b" t="t" l="l"/>
            <a:pathLst>
              <a:path h="2153601" w="2406316">
                <a:moveTo>
                  <a:pt x="0" y="0"/>
                </a:moveTo>
                <a:lnTo>
                  <a:pt x="2406316" y="0"/>
                </a:lnTo>
                <a:lnTo>
                  <a:pt x="240631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74336" y="4365901"/>
            <a:ext cx="1316736" cy="1444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51"/>
              </a:lnSpc>
            </a:pPr>
            <a:r>
              <a:rPr lang="en-US" b="true" sz="8465" spc="-253">
                <a:solidFill>
                  <a:srgbClr val="F99417"/>
                </a:solidFill>
                <a:latin typeface="Aileron Bold"/>
                <a:ea typeface="Aileron Bold"/>
                <a:cs typeface="Aileron Bold"/>
                <a:sym typeface="Aileron Bold"/>
              </a:rPr>
              <a:t>02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436086" y="5990729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43984" y="7207702"/>
            <a:ext cx="2359152" cy="99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1"/>
              </a:lnSpc>
            </a:pPr>
            <a:r>
              <a:rPr lang="en-US" sz="2858" spc="-85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Testes piloto no condomínio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748622" y="4919394"/>
            <a:ext cx="1312536" cy="448211"/>
          </a:xfrm>
          <a:custGeom>
            <a:avLst/>
            <a:gdLst/>
            <a:ahLst/>
            <a:cxnLst/>
            <a:rect r="r" b="b" t="t" l="l"/>
            <a:pathLst>
              <a:path h="448211" w="1312536">
                <a:moveTo>
                  <a:pt x="0" y="0"/>
                </a:moveTo>
                <a:lnTo>
                  <a:pt x="1312536" y="0"/>
                </a:lnTo>
                <a:lnTo>
                  <a:pt x="131253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831464" y="4066699"/>
            <a:ext cx="2406316" cy="2153601"/>
          </a:xfrm>
          <a:custGeom>
            <a:avLst/>
            <a:gdLst/>
            <a:ahLst/>
            <a:cxnLst/>
            <a:rect r="r" b="b" t="t" l="l"/>
            <a:pathLst>
              <a:path h="2153601" w="2406316">
                <a:moveTo>
                  <a:pt x="0" y="0"/>
                </a:moveTo>
                <a:lnTo>
                  <a:pt x="2406316" y="0"/>
                </a:lnTo>
                <a:lnTo>
                  <a:pt x="240631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357616" y="4365901"/>
            <a:ext cx="1316736" cy="1444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51"/>
              </a:lnSpc>
            </a:pPr>
            <a:r>
              <a:rPr lang="en-US" b="true" sz="8465" spc="-253">
                <a:solidFill>
                  <a:srgbClr val="F99417"/>
                </a:solidFill>
                <a:latin typeface="Aileron Bold"/>
                <a:ea typeface="Aileron Bold"/>
                <a:cs typeface="Aileron Bold"/>
                <a:sym typeface="Aileron Bold"/>
              </a:rPr>
              <a:t>03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706488" y="5990729"/>
            <a:ext cx="437512" cy="1082267"/>
          </a:xfrm>
          <a:custGeom>
            <a:avLst/>
            <a:gdLst/>
            <a:ahLst/>
            <a:cxnLst/>
            <a:rect r="r" b="b" t="t" l="l"/>
            <a:pathLst>
              <a:path h="1082267" w="437512">
                <a:moveTo>
                  <a:pt x="0" y="0"/>
                </a:moveTo>
                <a:lnTo>
                  <a:pt x="437512" y="0"/>
                </a:lnTo>
                <a:lnTo>
                  <a:pt x="43751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827264" y="7208297"/>
            <a:ext cx="2359152" cy="99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1"/>
              </a:lnSpc>
            </a:pPr>
            <a:r>
              <a:rPr lang="en-US" sz="2858" spc="-85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Instalação do QR Code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008086" y="4919394"/>
            <a:ext cx="1323474" cy="448211"/>
          </a:xfrm>
          <a:custGeom>
            <a:avLst/>
            <a:gdLst/>
            <a:ahLst/>
            <a:cxnLst/>
            <a:rect r="r" b="b" t="t" l="l"/>
            <a:pathLst>
              <a:path h="448211" w="1323474">
                <a:moveTo>
                  <a:pt x="0" y="0"/>
                </a:moveTo>
                <a:lnTo>
                  <a:pt x="1323474" y="0"/>
                </a:lnTo>
                <a:lnTo>
                  <a:pt x="1323474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101866" y="4066699"/>
            <a:ext cx="2614134" cy="2153601"/>
          </a:xfrm>
          <a:custGeom>
            <a:avLst/>
            <a:gdLst/>
            <a:ahLst/>
            <a:cxnLst/>
            <a:rect r="r" b="b" t="t" l="l"/>
            <a:pathLst>
              <a:path h="2153601" w="2614134">
                <a:moveTo>
                  <a:pt x="0" y="0"/>
                </a:moveTo>
                <a:lnTo>
                  <a:pt x="2614134" y="0"/>
                </a:lnTo>
                <a:lnTo>
                  <a:pt x="261413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777472" y="4365901"/>
            <a:ext cx="1353312" cy="1444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51"/>
              </a:lnSpc>
            </a:pPr>
            <a:r>
              <a:rPr lang="en-US" b="true" sz="8465" spc="-253">
                <a:solidFill>
                  <a:srgbClr val="F99417"/>
                </a:solidFill>
                <a:latin typeface="Aileron Bold"/>
                <a:ea typeface="Aileron Bold"/>
                <a:cs typeface="Aileron Bold"/>
                <a:sym typeface="Aileron Bold"/>
              </a:rPr>
              <a:t>04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184708" y="5990729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265408" y="7208297"/>
            <a:ext cx="2432304" cy="150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1"/>
              </a:lnSpc>
            </a:pPr>
            <a:r>
              <a:rPr lang="en-US" sz="2858" spc="-85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Treinamento e orientação dos moradores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497244" y="4919394"/>
            <a:ext cx="1312536" cy="448211"/>
          </a:xfrm>
          <a:custGeom>
            <a:avLst/>
            <a:gdLst/>
            <a:ahLst/>
            <a:cxnLst/>
            <a:rect r="r" b="b" t="t" l="l"/>
            <a:pathLst>
              <a:path h="448211" w="1312536">
                <a:moveTo>
                  <a:pt x="0" y="0"/>
                </a:moveTo>
                <a:lnTo>
                  <a:pt x="1312536" y="0"/>
                </a:lnTo>
                <a:lnTo>
                  <a:pt x="131253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580086" y="4066699"/>
            <a:ext cx="2406316" cy="2153601"/>
          </a:xfrm>
          <a:custGeom>
            <a:avLst/>
            <a:gdLst/>
            <a:ahLst/>
            <a:cxnLst/>
            <a:rect r="r" b="b" t="t" l="l"/>
            <a:pathLst>
              <a:path h="2153601" w="2406316">
                <a:moveTo>
                  <a:pt x="0" y="0"/>
                </a:moveTo>
                <a:lnTo>
                  <a:pt x="2406316" y="0"/>
                </a:lnTo>
                <a:lnTo>
                  <a:pt x="240631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160752" y="4365901"/>
            <a:ext cx="1316736" cy="1444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51"/>
              </a:lnSpc>
            </a:pPr>
            <a:r>
              <a:rPr lang="en-US" b="true" sz="8465" spc="-253">
                <a:solidFill>
                  <a:srgbClr val="F99417"/>
                </a:solidFill>
                <a:latin typeface="Aileron Bold"/>
                <a:ea typeface="Aileron Bold"/>
                <a:cs typeface="Aileron Bold"/>
                <a:sym typeface="Aileron Bold"/>
              </a:rPr>
              <a:t>05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673866" y="5990729"/>
            <a:ext cx="437512" cy="1082267"/>
          </a:xfrm>
          <a:custGeom>
            <a:avLst/>
            <a:gdLst/>
            <a:ahLst/>
            <a:cxnLst/>
            <a:rect r="r" b="b" t="t" l="l"/>
            <a:pathLst>
              <a:path h="1082267" w="437512">
                <a:moveTo>
                  <a:pt x="0" y="0"/>
                </a:moveTo>
                <a:lnTo>
                  <a:pt x="437512" y="0"/>
                </a:lnTo>
                <a:lnTo>
                  <a:pt x="43751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4520672" y="7233332"/>
            <a:ext cx="2816352" cy="146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3"/>
              </a:lnSpc>
            </a:pPr>
            <a:r>
              <a:rPr lang="en-US" sz="2788" spc="-83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Acompanhamento e melhorias contínuas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69264" y="1046383"/>
            <a:ext cx="8394192" cy="2696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3"/>
              </a:lnSpc>
            </a:pPr>
            <a:r>
              <a:rPr lang="en-US" sz="10353" spc="-310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Obrigado pela </a:t>
            </a:r>
            <a:r>
              <a:rPr lang="en-US" sz="10353" spc="-310" b="true">
                <a:solidFill>
                  <a:srgbClr val="F18700"/>
                </a:solidFill>
                <a:latin typeface="Aileron Bold"/>
                <a:ea typeface="Aileron Bold"/>
                <a:cs typeface="Aileron Bold"/>
                <a:sym typeface="Aileron Bold"/>
              </a:rPr>
              <a:t>sua atenção!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4086" y="4066699"/>
            <a:ext cx="2187560" cy="229572"/>
          </a:xfrm>
          <a:custGeom>
            <a:avLst/>
            <a:gdLst/>
            <a:ahLst/>
            <a:cxnLst/>
            <a:rect r="r" b="b" t="t" l="l"/>
            <a:pathLst>
              <a:path h="229572" w="2187560">
                <a:moveTo>
                  <a:pt x="0" y="0"/>
                </a:moveTo>
                <a:lnTo>
                  <a:pt x="2187560" y="0"/>
                </a:lnTo>
                <a:lnTo>
                  <a:pt x="218756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69264" y="4636439"/>
            <a:ext cx="7607808" cy="196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8"/>
              </a:lnSpc>
            </a:pPr>
            <a:r>
              <a:rPr lang="en-US" sz="402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Sua participação </a:t>
            </a:r>
            <a:r>
              <a:rPr lang="en-US" sz="4021" b="true">
                <a:solidFill>
                  <a:srgbClr val="F18700"/>
                </a:solidFill>
                <a:latin typeface="Aileron Bold"/>
                <a:ea typeface="Aileron Bold"/>
                <a:cs typeface="Aileron Bold"/>
                <a:sym typeface="Aileron Bold"/>
              </a:rPr>
              <a:t>faz a diferença.</a:t>
            </a:r>
            <a:r>
              <a:rPr lang="en-US" sz="402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Vamos juntos tornar a entrega </a:t>
            </a:r>
            <a:r>
              <a:rPr lang="en-US" sz="4021" b="true">
                <a:solidFill>
                  <a:srgbClr val="F18700"/>
                </a:solidFill>
                <a:latin typeface="Aileron Bold"/>
                <a:ea typeface="Aileron Bold"/>
                <a:cs typeface="Aileron Bold"/>
                <a:sym typeface="Aileron Bold"/>
              </a:rPr>
              <a:t>mais acessível</a:t>
            </a:r>
            <a:r>
              <a:rPr lang="en-US" sz="402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para todos.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7062064"/>
            <a:ext cx="8279914" cy="2590881"/>
          </a:xfrm>
          <a:custGeom>
            <a:avLst/>
            <a:gdLst/>
            <a:ahLst/>
            <a:cxnLst/>
            <a:rect r="r" b="b" t="t" l="l"/>
            <a:pathLst>
              <a:path h="2590881" w="8279914">
                <a:moveTo>
                  <a:pt x="0" y="0"/>
                </a:moveTo>
                <a:lnTo>
                  <a:pt x="8279914" y="0"/>
                </a:lnTo>
                <a:lnTo>
                  <a:pt x="8279914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1598" y="7499343"/>
            <a:ext cx="1750048" cy="1716322"/>
          </a:xfrm>
          <a:custGeom>
            <a:avLst/>
            <a:gdLst/>
            <a:ahLst/>
            <a:cxnLst/>
            <a:rect r="r" b="b" t="t" l="l"/>
            <a:pathLst>
              <a:path h="1716322" w="1750048">
                <a:moveTo>
                  <a:pt x="0" y="0"/>
                </a:moveTo>
                <a:lnTo>
                  <a:pt x="1750048" y="0"/>
                </a:lnTo>
                <a:lnTo>
                  <a:pt x="1750048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10128" y="7547866"/>
            <a:ext cx="4901184" cy="55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3"/>
              </a:lnSpc>
            </a:pPr>
            <a:r>
              <a:rPr lang="en-US" sz="4193" spc="-125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Dúvidas e sugestões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10128" y="8166590"/>
            <a:ext cx="4681728" cy="96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2978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Fale agora ou compartilhe seu feedback com a gente.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DAHVmLxJLoU</dc:identifier>
  <dcterms:modified xsi:type="dcterms:W3CDTF">2011-08-01T06:04:30Z</dcterms:modified>
  <cp:revision>1</cp:revision>
  <dc:title>Campainha digital acessível</dc:title>
</cp:coreProperties>
</file>